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B05C4D5-D629-4008-897B-DCED16B98C5F}"/>
              </a:ext>
            </a:extLst>
          </p:cNvPr>
          <p:cNvSpPr txBox="1"/>
          <p:nvPr/>
        </p:nvSpPr>
        <p:spPr>
          <a:xfrm>
            <a:off x="4095648" y="3028960"/>
            <a:ext cx="4000400" cy="800080"/>
          </a:xfrm>
        </p:spPr>
        <p:txBody>
          <a:bodyPr wrap="square" rtlCol="0"/>
          <a:lstStyle/>
          <a:p>
            <a:pPr algn="ctr"/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num>
                          <m:sSup>
                            <m:e>
                              <m:r>
                                <m:t xml:space="preserve">x</m:t>
                              </m:r>
                            </m:e>
                            <m:sup>
                              <m:r>
                                <m:t xml:space="preserve">2</m:t>
                              </m:r>
                            </m:sup>
                          </m:sSup>
                          <m:r>
                            <m:t xml:space="preserve">+</m:t>
                          </m:r>
                          <m:rad>
                            <m:radPr>
                              <m:degHide m:val="1"/>
                            </m:radPr>
                            <m:deg/>
                            <m:e>
                              <m:r>
                                <m:t xml:space="preserve">z</m:t>
                              </m:r>
                            </m:e>
                          </m:rad>
                        </m:num>
                        <m:den>
                          <m:r>
                            <m:t xml:space="preserve">n+1</m:t>
                          </m:r>
                        </m:den>
                      </m:f>
                      <m:r>
                        <m:t xml:space="preserve">α</m:t>
                      </m:r>
                    </m:oMath>
                  </m:oMathPara>
                </a14:m>
              </mc:Choice>
              <mc:Fallback>
                <a:r>
                  <a:rPr lang="en-US" dirty="0"/>
                  <a:t>(x^2+√(z))/(n+1)α</a:t>
                </a:r>
              </mc:Fallback>
            </mc:AlternateContent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99DE8F5-1FB6-4FDE-A4AF-3AFA82C3DC2E}"/>
              </a:ext>
            </a:extLst>
          </p:cNvPr>
          <p:cNvSpPr txBox="1"/>
          <p:nvPr/>
        </p:nvSpPr>
        <p:spPr>
          <a:xfrm>
            <a:off x="5657708" y="3124122"/>
            <a:ext cx="876278" cy="609585"/>
          </a:xfrm>
        </p:spPr>
        <p:txBody>
          <a:bodyPr wrap="square" rtlCol="0"/>
          <a:lstStyle/>
          <a:p>
            <a:r>
              <a:rPr sz="2800">
                <a:latin typeface="Segoe UI Symbol"/>
                <a:ea typeface="Segoe UI Symbol"/>
                <a:cs typeface="Segoe UI Symbol"/>
              </a:rPr>
              <a:t>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/>
                <a:gridCol w="3428800"/>
                <a:gridCol w="3428800"/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