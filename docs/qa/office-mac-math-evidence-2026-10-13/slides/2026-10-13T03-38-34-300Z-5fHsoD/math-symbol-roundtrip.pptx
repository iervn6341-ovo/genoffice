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notesSlides/notesSlide1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Q3 Business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Fiscal Year 2026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A9F13605-A45E-4878-B199-0899ADA3B1F3}"/>
              </a:ext>
            </a:extLst>
          </p:cNvPr>
          <p:cNvSpPr txBox="1"/>
          <p:nvPr/>
        </p:nvSpPr>
        <p:spPr>
          <a:xfrm>
            <a:off x="4095648" y="3028960"/>
            <a:ext cx="4000400" cy="800080"/>
          </a:xfrm>
        </p:spPr>
        <p:txBody>
          <a:bodyPr wrap="square" rtlCol="0"/>
          <a:lstStyle/>
          <a:p>
            <a:pPr algn="ctr"/>
            <mc:AlternateContent xmlns:mc="http://schemas.openxmlformats.org/markup-compatibility/2006">
              <mc:Choice xmlns:a14="http://schemas.microsoft.com/office/drawing/2010/main" Requires="a14"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num>
                          <m:sSup>
                            <m:e>
                              <m:r>
                                <m:t xml:space="preserve">x</m:t>
                              </m:r>
                            </m:e>
                            <m:sup>
                              <m:r>
                                <m:t xml:space="preserve">2</m:t>
                              </m:r>
                            </m:sup>
                          </m:sSup>
                          <m:r>
                            <m:t xml:space="preserve">+</m:t>
                          </m:r>
                          <m:rad>
                            <m:radPr>
                              <m:degHide m:val="1"/>
                            </m:radPr>
                            <m:deg/>
                            <m:e>
                              <m:r>
                                <m:t xml:space="preserve">y</m:t>
                              </m:r>
                            </m:e>
                          </m:rad>
                        </m:num>
                        <m:den>
                          <m:r>
                            <m:t xml:space="preserve">n+1</m:t>
                          </m:r>
                        </m:den>
                      </m:f>
                      <m:r>
                        <m:t xml:space="preserve">α</m:t>
                      </m:r>
                    </m:oMath>
                  </m:oMathPara>
                </a14:m>
              </mc:Choice>
              <mc:Fallback>
                <a:r>
                  <a:rPr lang="en-US" dirty="0"/>
                  <a:t>(x^2+√(y))/(n+1)α</a:t>
                </a:r>
              </mc:Fallback>
            </mc:AlternateContent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Financial results</a:t>
            </a:r>
          </a:p>
          <a:p>
            <a:r>
              <a:t>Product updates</a:t>
            </a:r>
          </a:p>
          <a:p>
            <a:r>
              <a:t>Roadmap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B4897D4-A6E6-481D-9E45-E46F46EB446E}"/>
              </a:ext>
            </a:extLst>
          </p:cNvPr>
          <p:cNvSpPr txBox="1"/>
          <p:nvPr/>
        </p:nvSpPr>
        <p:spPr>
          <a:xfrm>
            <a:off x="5657708" y="3124122"/>
            <a:ext cx="876278" cy="609585"/>
          </a:xfrm>
        </p:spPr>
        <p:txBody>
          <a:bodyPr wrap="square" rtlCol="0"/>
          <a:lstStyle/>
          <a:p>
            <a:r>
              <a:rPr sz="2800">
                <a:latin typeface="Segoe UI Symbol"/>
                <a:ea typeface="Segoe UI Symbol"/>
                <a:cs typeface="Segoe UI Symbol"/>
              </a:rPr>
              <a:t>∑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286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F2937"/>
                </a:solidFill>
              </a:rPr>
              <a:t>Key Results</a:t>
            </a:r>
          </a:p>
        </p:txBody>
      </p:sp>
      <p:pic>
        <p:nvPicPr>
          <p:cNvPr id="4" name="Picture 3" descr="_tmp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6400" y="228600"/>
            <a:ext cx="1000000" cy="600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Revenue by Region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102864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8800"/>
                <a:gridCol w="3428800"/>
                <a:gridCol w="3428800"/>
              </a:tblGrid>
              <a:tr h="762000">
                <a:tc>
                  <a:txBody>
                    <a:bodyPr/>
                    <a:lstStyle/>
                    <a:p>
                      <a:r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YoY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r>
                        <a:t>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$12.3M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+8%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r>
                        <a:t>EMEA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$7.1M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+12%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