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0A6C9D1-A920-49D6-9DE3-04DC63888747}"/>
              </a:ext>
            </a:extLst>
          </p:cNvPr>
          <p:cNvSpPr txBox="1"/>
          <p:nvPr/>
        </p:nvSpPr>
        <p:spPr>
          <a:xfrm>
            <a:off x="4095648" y="3028960"/>
            <a:ext cx="4000400" cy="800080"/>
          </a:xfrm>
        </p:spPr>
        <p:txBody>
          <a:bodyPr wrap="square" rtlCol="0"/>
          <a:lstStyle/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num>
                          <m:sSup>
                            <m:e>
                              <m:r>
                                <m:t xml:space="preserve">x</m:t>
                              </m:r>
                            </m:e>
                            <m:sup>
                              <m:r>
                                <m:t xml:space="preserve">2</m:t>
                              </m:r>
                            </m:sup>
                          </m:sSup>
                          <m:r>
                            <m:t xml:space="preserve">+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r>
                                <m:t xml:space="preserve">y</m:t>
                              </m:r>
                            </m:e>
                          </m:rad>
                        </m:num>
                        <m:den>
                          <m:r>
                            <m:t xml:space="preserve">n+1</m:t>
                          </m:r>
                        </m:den>
                      </m:f>
                      <m:r>
                        <m:t xml:space="preserve">α</m:t>
                      </m:r>
                    </m:oMath>
                  </m:oMathPara>
                </a14:m>
              </mc:Choice>
              <mc:Fallback>
                <a:r>
                  <a:rPr lang="en-US" dirty="0"/>
                  <a:t>(x^2+√(y))/(n+1)α</a:t>
                </a:r>
              </mc:Fallback>
            </mc:AlternateContent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E67FD59-833A-4D48-B3D0-913CC80599DB}"/>
              </a:ext>
            </a:extLst>
          </p:cNvPr>
          <p:cNvSpPr txBox="1"/>
          <p:nvPr/>
        </p:nvSpPr>
        <p:spPr>
          <a:xfrm>
            <a:off x="5657708" y="3124122"/>
            <a:ext cx="876278" cy="609585"/>
          </a:xfrm>
        </p:spPr>
        <p:txBody>
          <a:bodyPr wrap="square" rtlCol="0"/>
          <a:lstStyle/>
          <a:p>
            <a:r>
              <a:rPr sz="2800">
                <a:latin typeface="Segoe UI Symbol"/>
                <a:ea typeface="Segoe UI Symbol"/>
                <a:cs typeface="Segoe UI Symbol"/>
              </a:rPr>
              <a:t>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