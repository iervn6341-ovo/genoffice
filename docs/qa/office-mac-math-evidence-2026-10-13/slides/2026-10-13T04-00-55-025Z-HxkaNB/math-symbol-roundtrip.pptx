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  <Override PartName="/ppt/notesMasters/notesMaster1.xml" ContentType="application/vnd.openxmlformats-officedocument.presentationml.notesMaster+xml"/>
  <Override PartName="/ppt/theme/theme2.xml" ContentType="application/vnd.openxmlformats-officedocument.theme+xml"/>
  <Override PartName="/ppt/notesSlides/notesSlide1.xml" ContentType="application/vnd.openxmlformats-officedocument.presentationml.notesSlide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12"/>
  </p:notesMasterIdLst>
  <p:sldIdLst>
    <p:sldId id="256" r:id="rId7"/>
    <p:sldId id="257" r:id="rId8"/>
    <p:sldId id="258" r:id="rId9"/>
    <p:sldId id="259" r:id="rId10"/>
    <p:sldId id="260" r:id="rId11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notesMaster" Target="notesMasters/notesMaster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</p:notesMaster>
</file>

<file path=ppt/notesSlides/_rels/notesSlide1.xml.rels><?xml version="1.0" encoding="UTF-8" standalone="yes"?>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/>
          </a:p>
        </p:txBody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image" Target="../media/image1.png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t>Q3 Business Review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t>Fiscal Year 2026</a:t>
            </a:r>
          </a:p>
        </p:txBody>
      </p:sp>
      <p:sp>
        <p:nvSpPr>
          <p:cNvPr id="4" name="TextBox 4">
            <a:extLst>
              <a:ext uri="{FF2B5EF4-FFF2-40B4-BE49-F238E27FC236}">
                <a16:creationId xmlns:a16="http://schemas.microsoft.com/office/drawing/2014/main" id="{EB2568BA-650D-4D8C-9875-5FE6B60A9F6A}"/>
              </a:ext>
            </a:extLst>
          </p:cNvPr>
          <p:cNvSpPr txBox="1"/>
          <p:nvPr/>
        </p:nvSpPr>
        <p:spPr>
          <a:xfrm>
            <a:off x="4095648" y="3028960"/>
            <a:ext cx="4000400" cy="800080"/>
          </a:xfrm>
        </p:spPr>
        <p:txBody>
          <a:bodyPr wrap="square" rtlCol="0"/>
          <a:lstStyle/>
          <a:p>
            <a:pPr algn="ctr"/>
            <mc:AlternateContent xmlns:mc="http://schemas.openxmlformats.org/markup-compatibility/2006">
              <mc:Choice xmlns:a14="http://schemas.microsoft.com/office/drawing/2010/main" Requires="a14"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f>
                        <m:num>
                          <m:sSup>
                            <m:e>
                              <m:r>
                                <m:t xml:space="preserve">x</m:t>
                              </m:r>
                            </m:e>
                            <m:sup>
                              <m:r>
                                <m:t xml:space="preserve">2</m:t>
                              </m:r>
                            </m:sup>
                          </m:sSup>
                          <m:r>
                            <m:t xml:space="preserve">+</m:t>
                          </m:r>
                          <m:rad>
                            <m:radPr>
                              <m:degHide m:val="1"/>
                            </m:radPr>
                            <m:deg/>
                            <m:e>
                              <m:r>
                                <m:t xml:space="preserve">z</m:t>
                              </m:r>
                            </m:e>
                          </m:rad>
                        </m:num>
                        <m:den>
                          <m:r>
                            <m:t xml:space="preserve">n+1</m:t>
                          </m:r>
                        </m:den>
                      </m:f>
                      <m:r>
                        <m:t xml:space="preserve">α</m:t>
                      </m:r>
                    </m:oMath>
                  </m:oMathPara>
                </a14:m>
              </mc:Choice>
              <mc:Fallback>
                <a:r>
                  <a:rPr lang="en-US" dirty="0"/>
                  <a:t>(x^2+√(z))/(n+1)α</a:t>
                </a:r>
              </mc:Fallback>
            </mc:AlternateContent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Agenda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Financial results</a:t>
            </a:r>
          </a:p>
          <a:p>
            <a:r>
              <a:t>Product updates</a:t>
            </a:r>
          </a:p>
          <a:p>
            <a:r>
              <a:t>Roadmap</a:t>
            </a:r>
          </a:p>
        </p:txBody>
      </p:sp>
      <p:sp>
        <p:nvSpPr>
          <p:cNvPr id="4" name="TextBox 4">
            <a:extLst>
              <a:ext uri="{FF2B5EF4-FFF2-40B4-BE49-F238E27FC236}">
                <a16:creationId xmlns:a16="http://schemas.microsoft.com/office/drawing/2014/main" id="{5EA52391-3D10-4814-8C44-1CDA2AFF9F6C}"/>
              </a:ext>
            </a:extLst>
          </p:cNvPr>
          <p:cNvSpPr txBox="1"/>
          <p:nvPr/>
        </p:nvSpPr>
        <p:spPr>
          <a:xfrm>
            <a:off x="5657708" y="3124122"/>
            <a:ext cx="876278" cy="609585"/>
          </a:xfrm>
        </p:spPr>
        <p:txBody>
          <a:bodyPr wrap="square" rtlCol="0"/>
          <a:lstStyle/>
          <a:p>
            <a:r>
              <a:rPr sz="2800">
                <a:latin typeface="Segoe UI Symbol"/>
                <a:ea typeface="Segoe UI Symbol"/>
                <a:cs typeface="Segoe UI Symbol"/>
              </a:rPr>
              <a:t>∑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914400" y="457200"/>
            <a:ext cx="10286400" cy="1371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3600" b="1">
                <a:solidFill>
                  <a:srgbClr val="1F2937"/>
                </a:solidFill>
              </a:rPr>
              <a:t>Key Results</a:t>
            </a:r>
          </a:p>
        </p:txBody>
      </p:sp>
      <p:pic>
        <p:nvPicPr>
          <p:cNvPr id="4" name="Picture 3" descr="_tmp_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286400" y="228600"/>
            <a:ext cx="1000000" cy="600000"/>
          </a:xfrm>
          <a:prstGeom prst="rect">
            <a:avLst/>
          </a:prstGeom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Revenue by Region</a:t>
            </a:r>
          </a:p>
        </p:txBody>
      </p:sp>
      <p:graphicFrame>
        <p:nvGraphicFramePr>
          <p:cNvPr id="3" name="Table 2"/>
          <p:cNvGraphicFramePr>
            <a:graphicFrameLocks noGrp="1"/>
          </p:cNvGraphicFramePr>
          <p:nvPr/>
        </p:nvGraphicFramePr>
        <p:xfrm>
          <a:off x="914400" y="1828800"/>
          <a:ext cx="10286400" cy="22860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428800"/>
                <a:gridCol w="3428800"/>
                <a:gridCol w="3428800"/>
              </a:tblGrid>
              <a:tr h="762000">
                <a:tc>
                  <a:txBody>
                    <a:bodyPr/>
                    <a:lstStyle/>
                    <a:p>
                      <a:r>
                        <a:t>Region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Q3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YoY</a:t>
                      </a:r>
                    </a:p>
                  </a:txBody>
                  <a:tcPr/>
                </a:tc>
              </a:tr>
              <a:tr h="762000">
                <a:tc>
                  <a:txBody>
                    <a:bodyPr/>
                    <a:lstStyle/>
                    <a:p>
                      <a:r>
                        <a:t>NA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$12.3M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+8%</a:t>
                      </a:r>
                    </a:p>
                  </a:txBody>
                  <a:tcPr/>
                </a:tc>
              </a:tr>
              <a:tr h="762000">
                <a:tc>
                  <a:txBody>
                    <a:bodyPr/>
                    <a:lstStyle/>
                    <a:p>
                      <a:r>
                        <a:t>EMEA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$7.1M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+12%</a:t>
                      </a:r>
                    </a:p>
                  </a:txBody>
                  <a:tcPr/>
                </a:tc>
              </a:tr>
            </a:tbl>
          </a:graphicData>
        </a:graphic>
      </p:graphicFrame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t>Thank you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t>Questions?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